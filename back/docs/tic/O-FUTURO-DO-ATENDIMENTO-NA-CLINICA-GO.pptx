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Comfortaa"/>
      <p:regular r:id="rId18"/>
    </p:embeddedFont>
    <p:embeddedFont>
      <p:font typeface="Comfortaa"/>
      <p:regular r:id="rId19"/>
    </p:embeddedFont>
    <p:embeddedFont>
      <p:font typeface="Raleway Medium"/>
      <p:regular r:id="rId20"/>
    </p:embeddedFont>
    <p:embeddedFont>
      <p:font typeface="Raleway Medium"/>
      <p:regular r:id="rId21"/>
    </p:embeddedFont>
    <p:embeddedFont>
      <p:font typeface="Raleway Medium"/>
      <p:regular r:id="rId22"/>
    </p:embeddedFont>
    <p:embeddedFont>
      <p:font typeface="Raleway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conseguir fazer uma conversa simulando telas mesmo pra explicar esse slide ou tranformar em 3 slides diferentes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conseguir fazer uma conversa simulando telas mesmo pra explicar esse slide ou tranformar em 3 slides diferentes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conseguir fazer uma conversa simulando telas mesmo pra explicar esse slide ou tranformar em 3 slides diferentes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tambem transformar em um fluxogama apenas com o titulo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083594"/>
            <a:ext cx="74159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 FUTURO DO ATENDIMENTO NA CLÍNICA GO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239697"/>
            <a:ext cx="726590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Chatbot com IA para WhatsApp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864037" y="5158502"/>
            <a:ext cx="7415927" cy="987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Time:</a:t>
            </a:r>
            <a:pPr algn="l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Brenno, Edyo, Karollini, Luiza, Miguel</a:t>
            </a:r>
            <a:endParaRPr lang="en-US" sz="2400" dirty="0"/>
          </a:p>
          <a:p>
            <a:pPr algn="l" indent="0" marL="0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Orientador:</a:t>
            </a:r>
            <a:pPr algn="l" indent="0" marL="0">
              <a:lnSpc>
                <a:spcPts val="3850"/>
              </a:lnSpc>
              <a:buNone/>
            </a:pPr>
            <a:r>
              <a:rPr lang="en-US" sz="2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Johnny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836" y="832247"/>
            <a:ext cx="7578328" cy="186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 Problema Real: Grande demanda de mensagens em curto período.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82836" y="3031569"/>
            <a:ext cx="7578328" cy="1847493"/>
          </a:xfrm>
          <a:prstGeom prst="roundRect">
            <a:avLst>
              <a:gd name="adj" fmla="val 7919"/>
            </a:avLst>
          </a:prstGeom>
          <a:solidFill>
            <a:srgbClr val="000000"/>
          </a:solidFill>
          <a:ln w="30480">
            <a:solidFill>
              <a:srgbClr val="A8D5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2356" y="3031569"/>
            <a:ext cx="121920" cy="1847493"/>
          </a:xfrm>
          <a:prstGeom prst="roundRect">
            <a:avLst>
              <a:gd name="adj" fmla="val 275209"/>
            </a:avLst>
          </a:prstGeom>
          <a:solidFill>
            <a:srgbClr val="A8D5D0"/>
          </a:solidFill>
          <a:ln/>
        </p:spPr>
      </p:sp>
      <p:sp>
        <p:nvSpPr>
          <p:cNvPr id="6" name="Text 3"/>
          <p:cNvSpPr/>
          <p:nvPr/>
        </p:nvSpPr>
        <p:spPr>
          <a:xfrm>
            <a:off x="1128355" y="3285649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 Desafio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28355" y="3730585"/>
            <a:ext cx="6978729" cy="89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150+ mensagens</a:t>
            </a:r>
            <a:pPr algn="l"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por dia. A secretária não consegue responder rápido. Resultado: leads desistem.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82836" y="5102662"/>
            <a:ext cx="7578328" cy="2294692"/>
          </a:xfrm>
          <a:prstGeom prst="roundRect">
            <a:avLst>
              <a:gd name="adj" fmla="val 6376"/>
            </a:avLst>
          </a:prstGeom>
          <a:solidFill>
            <a:srgbClr val="000000"/>
          </a:solidFill>
          <a:ln w="30480">
            <a:solidFill>
              <a:srgbClr val="A8D5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2356" y="5102662"/>
            <a:ext cx="121920" cy="2294692"/>
          </a:xfrm>
          <a:prstGeom prst="roundRect">
            <a:avLst>
              <a:gd name="adj" fmla="val 275209"/>
            </a:avLst>
          </a:prstGeom>
          <a:solidFill>
            <a:srgbClr val="A8D5D0"/>
          </a:solidFill>
          <a:ln/>
        </p:spPr>
      </p:sp>
      <p:sp>
        <p:nvSpPr>
          <p:cNvPr id="10" name="Text 7"/>
          <p:cNvSpPr/>
          <p:nvPr/>
        </p:nvSpPr>
        <p:spPr>
          <a:xfrm>
            <a:off x="1128355" y="5356741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Nossa Solução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128355" y="5801678"/>
            <a:ext cx="6978729" cy="1341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Um bot de IA que responde em </a:t>
            </a:r>
            <a:pPr algn="l" indent="0" marL="0">
              <a:lnSpc>
                <a:spcPts val="3500"/>
              </a:lnSpc>
              <a:buNone/>
            </a:pPr>
            <a:r>
              <a:rPr lang="en-US" sz="22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2 segundos</a:t>
            </a:r>
            <a:pPr algn="l" indent="0" marL="0">
              <a:lnSpc>
                <a:spcPts val="3500"/>
              </a:lnSpc>
              <a:buNone/>
            </a:pPr>
            <a:r>
              <a:rPr lang="en-US" sz="2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. Qualifica leads. Chama a secretária só quando precisa.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294" y="1067276"/>
            <a:ext cx="763381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 Camadas de Inteligência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864037" y="2246828"/>
            <a:ext cx="4136231" cy="3996571"/>
          </a:xfrm>
          <a:prstGeom prst="roundRect">
            <a:avLst>
              <a:gd name="adj" fmla="val 9266"/>
            </a:avLst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1110853" y="2493645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00BCD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14450" y="2697242"/>
            <a:ext cx="333256" cy="333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0552" y="34810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 CÉREBRO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10853" y="3972044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Gemini AI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10853" y="4515207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Entendimento de Contexto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10853" y="5058370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LangChain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10853" y="5601533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Memória da Conversa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247084" y="2246828"/>
            <a:ext cx="4136231" cy="3996571"/>
          </a:xfrm>
          <a:prstGeom prst="roundRect">
            <a:avLst>
              <a:gd name="adj" fmla="val 9266"/>
            </a:avLst>
          </a:prstGeom>
          <a:solidFill>
            <a:srgbClr val="1F1F1F"/>
          </a:solidFill>
          <a:ln/>
        </p:spPr>
      </p:sp>
      <p:sp>
        <p:nvSpPr>
          <p:cNvPr id="12" name="Shape 9"/>
          <p:cNvSpPr/>
          <p:nvPr/>
        </p:nvSpPr>
        <p:spPr>
          <a:xfrm>
            <a:off x="5493901" y="2493645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4CAF5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7498" y="2697242"/>
            <a:ext cx="333256" cy="3332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0" y="34810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 MEMÓRIA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5493901" y="3972044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ChromaDB (RAG)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493901" y="4515207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Busca Semântica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493901" y="5058370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Protocolos da Clínica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9630132" y="2246828"/>
            <a:ext cx="4136231" cy="3996571"/>
          </a:xfrm>
          <a:prstGeom prst="roundRect">
            <a:avLst>
              <a:gd name="adj" fmla="val 9266"/>
            </a:avLst>
          </a:prstGeom>
          <a:solidFill>
            <a:srgbClr val="1F1F1F"/>
          </a:solidFill>
          <a:ln/>
        </p:spPr>
      </p:sp>
      <p:sp>
        <p:nvSpPr>
          <p:cNvPr id="19" name="Shape 15"/>
          <p:cNvSpPr/>
          <p:nvPr/>
        </p:nvSpPr>
        <p:spPr>
          <a:xfrm>
            <a:off x="9876949" y="2493645"/>
            <a:ext cx="740569" cy="740569"/>
          </a:xfrm>
          <a:prstGeom prst="roundRect">
            <a:avLst>
              <a:gd name="adj" fmla="val 12346028"/>
            </a:avLst>
          </a:prstGeom>
          <a:solidFill>
            <a:srgbClr val="42424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80546" y="2697242"/>
            <a:ext cx="333256" cy="3332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26648" y="34810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 ORGANIZAÇÃO</a:t>
            </a:r>
            <a:endParaRPr lang="en-US" sz="2150" dirty="0"/>
          </a:p>
        </p:txBody>
      </p:sp>
      <p:sp>
        <p:nvSpPr>
          <p:cNvPr id="22" name="Text 17"/>
          <p:cNvSpPr/>
          <p:nvPr/>
        </p:nvSpPr>
        <p:spPr>
          <a:xfrm>
            <a:off x="9876949" y="3972044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Redis Queue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9876949" y="4515207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Prioridade Rápida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876949" y="5058370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9876949" y="5601533"/>
            <a:ext cx="364259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Histórico Completo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2099905" y="6613684"/>
            <a:ext cx="10430589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Um sistema que Entende, Lembra e Organiza</a:t>
            </a:r>
            <a:endParaRPr lang="en-US" sz="3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09" y="308610"/>
            <a:ext cx="3517463" cy="76123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79237" y="2488168"/>
            <a:ext cx="558712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Do Instagram ao Agendamento - Caso Real</a:t>
            </a:r>
            <a:endParaRPr lang="en-US" sz="4300" dirty="0"/>
          </a:p>
        </p:txBody>
      </p:sp>
      <p:sp>
        <p:nvSpPr>
          <p:cNvPr id="5" name="Text 1"/>
          <p:cNvSpPr/>
          <p:nvPr/>
        </p:nvSpPr>
        <p:spPr>
          <a:xfrm>
            <a:off x="8179237" y="4644271"/>
            <a:ext cx="55871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Etapa 1: O Bot Analisa a Mensagem (2 segundos)</a:t>
            </a:r>
            <a:endParaRPr lang="en-US" sz="3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09" y="308610"/>
            <a:ext cx="3517463" cy="76123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79237" y="3566279"/>
            <a:ext cx="55871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Etapa 2: Bot Responde + Qualifica (3 segundos)</a:t>
            </a:r>
            <a:endParaRPr lang="en-US" sz="3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809" y="308610"/>
            <a:ext cx="3517463" cy="76123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79237" y="3017758"/>
            <a:ext cx="5587127" cy="219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Etapa 3: Resultado - Lead Qualificado e Pronto para Agendamento</a:t>
            </a:r>
            <a:endParaRPr lang="en-US" sz="3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3437" y="542806"/>
            <a:ext cx="8366284" cy="546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Como o Bot Decide: 3 Cenários Reais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783437" y="1168122"/>
            <a:ext cx="11063407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 bot escolhe agir com autonomia, pedir ajuda ou escalar conforme a situação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1783437" y="2337673"/>
            <a:ext cx="3556635" cy="5349121"/>
          </a:xfrm>
          <a:prstGeom prst="roundRect">
            <a:avLst>
              <a:gd name="adj" fmla="val 8299"/>
            </a:avLst>
          </a:prstGeom>
          <a:solidFill>
            <a:srgbClr val="1F1F1F"/>
          </a:solidFill>
          <a:ln/>
        </p:spPr>
      </p:sp>
      <p:sp>
        <p:nvSpPr>
          <p:cNvPr id="5" name="Shape 3"/>
          <p:cNvSpPr/>
          <p:nvPr/>
        </p:nvSpPr>
        <p:spPr>
          <a:xfrm>
            <a:off x="1980128" y="2534364"/>
            <a:ext cx="590312" cy="590312"/>
          </a:xfrm>
          <a:prstGeom prst="roundRect">
            <a:avLst>
              <a:gd name="adj" fmla="val 15488565"/>
            </a:avLst>
          </a:prstGeom>
          <a:solidFill>
            <a:srgbClr val="4CAF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2411" y="2696647"/>
            <a:ext cx="265628" cy="265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0128" y="3321368"/>
            <a:ext cx="218634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CASO SIMPLES 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80128" y="3712607"/>
            <a:ext cx="316325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Mensagem:</a:t>
            </a:r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pPr algn="l" indent="0" marL="0">
              <a:lnSpc>
                <a:spcPts val="3050"/>
              </a:lnSpc>
              <a:buNone/>
            </a:pPr>
            <a:r>
              <a:rPr lang="en-US" sz="19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"Vocês trabalham com TRH?"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80128" y="4617601"/>
            <a:ext cx="316325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✅</a:t>
            </a:r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Bot Decide: AUTONOMIA TOTAL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980128" y="5522595"/>
            <a:ext cx="316325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Nenhum humano acionado.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536763" y="2337673"/>
            <a:ext cx="3556635" cy="5349121"/>
          </a:xfrm>
          <a:prstGeom prst="roundRect">
            <a:avLst>
              <a:gd name="adj" fmla="val 8299"/>
            </a:avLst>
          </a:prstGeom>
          <a:solidFill>
            <a:srgbClr val="1F1F1F"/>
          </a:solidFill>
          <a:ln/>
        </p:spPr>
      </p:sp>
      <p:sp>
        <p:nvSpPr>
          <p:cNvPr id="12" name="Shape 9"/>
          <p:cNvSpPr/>
          <p:nvPr/>
        </p:nvSpPr>
        <p:spPr>
          <a:xfrm>
            <a:off x="5733455" y="2534364"/>
            <a:ext cx="590312" cy="590312"/>
          </a:xfrm>
          <a:prstGeom prst="roundRect">
            <a:avLst>
              <a:gd name="adj" fmla="val 15488565"/>
            </a:avLst>
          </a:prstGeom>
          <a:solidFill>
            <a:srgbClr val="FF980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5737" y="2696647"/>
            <a:ext cx="265628" cy="2656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33455" y="3321368"/>
            <a:ext cx="218634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CASO COMPLEXO 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733455" y="3712607"/>
            <a:ext cx="3163253" cy="1574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Mensagem:</a:t>
            </a:r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pPr algn="l" indent="0" marL="0">
              <a:lnSpc>
                <a:spcPts val="3050"/>
              </a:lnSpc>
              <a:buNone/>
            </a:pPr>
            <a:r>
              <a:rPr lang="en-US" sz="19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"Tenho SOP + quero engravidar + tomo metformina. TRH é seguro?"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733455" y="5404604"/>
            <a:ext cx="316325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⚠️</a:t>
            </a:r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Bot Decide: PRECISA DE AJUDA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733455" y="6309598"/>
            <a:ext cx="3163253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Conversa disponível no dashboard para a secretária assumir.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9290090" y="2337673"/>
            <a:ext cx="3556754" cy="5349121"/>
          </a:xfrm>
          <a:prstGeom prst="roundRect">
            <a:avLst>
              <a:gd name="adj" fmla="val 8299"/>
            </a:avLst>
          </a:prstGeom>
          <a:solidFill>
            <a:srgbClr val="1F1F1F"/>
          </a:solidFill>
          <a:ln/>
        </p:spPr>
      </p:sp>
      <p:sp>
        <p:nvSpPr>
          <p:cNvPr id="19" name="Shape 15"/>
          <p:cNvSpPr/>
          <p:nvPr/>
        </p:nvSpPr>
        <p:spPr>
          <a:xfrm>
            <a:off x="9486781" y="2534364"/>
            <a:ext cx="590312" cy="590312"/>
          </a:xfrm>
          <a:prstGeom prst="roundRect">
            <a:avLst>
              <a:gd name="adj" fmla="val 15488565"/>
            </a:avLst>
          </a:prstGeom>
          <a:solidFill>
            <a:srgbClr val="F4433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9063" y="2696647"/>
            <a:ext cx="265628" cy="2656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86781" y="3321368"/>
            <a:ext cx="218634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CASO URGENTE 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9486781" y="3712607"/>
            <a:ext cx="3163372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Mensagem:</a:t>
            </a:r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pPr algn="l" indent="0" marL="0">
              <a:lnSpc>
                <a:spcPts val="3050"/>
              </a:lnSpc>
              <a:buNone/>
            </a:pPr>
            <a:r>
              <a:rPr lang="en-US" sz="1900" i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"Estou sangrando muito há 2 horas."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9486781" y="5011103"/>
            <a:ext cx="3163372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🚨</a:t>
            </a:r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Bot Decide: ESCALAÇÃO IMEDIATA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9486781" y="5916097"/>
            <a:ext cx="3163372" cy="118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Handoff em 3s. Conversa no topo com badge </a:t>
            </a:r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🚨</a:t>
            </a:r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URGENTE.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57607"/>
            <a:ext cx="8068628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Sistema 70% Pronto para Produção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1899880"/>
            <a:ext cx="6451163" cy="987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27709" y="3134201"/>
            <a:ext cx="292381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Infraestrutura (100%)</a:t>
            </a:r>
            <a:endParaRPr lang="en-US" sz="2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99880"/>
            <a:ext cx="6451163" cy="9875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8285" y="3134201"/>
            <a:ext cx="280499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Banco e Filas (100%)</a:t>
            </a:r>
            <a:endParaRPr lang="en-US" sz="2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3723918"/>
            <a:ext cx="6451163" cy="9875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717959" y="495823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IA e RAG (100%)</a:t>
            </a:r>
            <a:endParaRPr lang="en-US" sz="2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23918"/>
            <a:ext cx="6451163" cy="98750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745855" y="4958239"/>
            <a:ext cx="35898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Lógica de Negócio (100%)</a:t>
            </a:r>
            <a:endParaRPr lang="en-US" sz="21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037" y="5547955"/>
            <a:ext cx="6451163" cy="98750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85737" y="6782276"/>
            <a:ext cx="40076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Dashboard e Métricas (50%)</a:t>
            </a:r>
            <a:endParaRPr lang="en-US" sz="21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547955"/>
            <a:ext cx="6451163" cy="98750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043868" y="6782276"/>
            <a:ext cx="29937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Testes e Deploy (50%)</a:t>
            </a:r>
            <a:endParaRPr lang="en-US" sz="2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5538" y="575548"/>
            <a:ext cx="5655469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Arquitetura de Decisão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1445538" y="1573054"/>
            <a:ext cx="11739205" cy="83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050" dirty="0">
                <a:solidFill>
                  <a:srgbClr val="F2F2F2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Nosso sistema de IA é capaz de processar e reagir a diversas situações com agilidade e precisão.</a:t>
            </a:r>
            <a:endParaRPr lang="en-US" sz="2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538" y="2642949"/>
            <a:ext cx="1043940" cy="1252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98194" y="2851666"/>
            <a:ext cx="2435185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MENSAGEM INICIAL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698194" y="3266956"/>
            <a:ext cx="1048654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Recebe a mensagem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538" y="3895725"/>
            <a:ext cx="1043940" cy="1252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8194" y="4104442"/>
            <a:ext cx="3370540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ARQUITETURA DE DECISÃO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698194" y="4519732"/>
            <a:ext cx="1048654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Analisa o contexto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38" y="5148501"/>
            <a:ext cx="1043940" cy="12527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698194" y="5357217"/>
            <a:ext cx="2361367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ANÁLISE PARALELA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698194" y="5772507"/>
            <a:ext cx="1048654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Processa em paralelo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538" y="6401276"/>
            <a:ext cx="1043940" cy="12527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98194" y="6609993"/>
            <a:ext cx="2319933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2F2F2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DECISÃO FINAL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2698194" y="7025283"/>
            <a:ext cx="10486549" cy="267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Toma a decisão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982" y="1080849"/>
            <a:ext cx="4828103" cy="52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Perguntas Frequentes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143982" y="1884521"/>
            <a:ext cx="7828836" cy="2538174"/>
          </a:xfrm>
          <a:prstGeom prst="roundRect">
            <a:avLst>
              <a:gd name="adj" fmla="val 11105"/>
            </a:avLst>
          </a:prstGeom>
          <a:solidFill>
            <a:srgbClr val="000000"/>
          </a:solidFill>
          <a:ln w="22860">
            <a:solidFill>
              <a:srgbClr val="38383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209" y="1794748"/>
            <a:ext cx="225385" cy="22538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206" y="4287083"/>
            <a:ext cx="225385" cy="2253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48663" y="2189202"/>
            <a:ext cx="4989790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"E se o bot não conseguir responder?"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6448663" y="2614970"/>
            <a:ext cx="7219474" cy="150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"Ele pede ajuda!"</a:t>
            </a:r>
            <a:pPr algn="l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 bot é programado para transferir casos complexos para a secretária. Além disso, todas as conversas são registradas para auditoria, garantindo a segurança e a qualidade do atendimento.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6143982" y="4610576"/>
            <a:ext cx="7828836" cy="2538174"/>
          </a:xfrm>
          <a:prstGeom prst="roundRect">
            <a:avLst>
              <a:gd name="adj" fmla="val 11105"/>
            </a:avLst>
          </a:prstGeom>
          <a:solidFill>
            <a:srgbClr val="000000"/>
          </a:solidFill>
          <a:ln w="22860">
            <a:solidFill>
              <a:srgbClr val="383838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209" y="4520803"/>
            <a:ext cx="225385" cy="225385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37206" y="7013138"/>
            <a:ext cx="225385" cy="22538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48663" y="4915257"/>
            <a:ext cx="3891082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"O bot substitui a secretária?"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6448663" y="5341025"/>
            <a:ext cx="7219474" cy="1503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00" b="1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"Não! Ele é o assistente da secretária."</a:t>
            </a:r>
            <a:pPr algn="l" indent="0" marL="0">
              <a:lnSpc>
                <a:spcPts val="2950"/>
              </a:lnSpc>
              <a:buNone/>
            </a:pPr>
            <a:r>
              <a:rPr lang="en-US" sz="18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O bot cuida das perguntas repetitivas. Quando algo complexo ou urgente é detectado, a conversa é escalada e a secretária assume pelo dashboard web, com acesso a todo o histórico.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7505" y="1812012"/>
            <a:ext cx="693539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Obrigado pela Atenção!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991564"/>
            <a:ext cx="129023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3762970"/>
            <a:ext cx="129023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4037" y="4534376"/>
            <a:ext cx="12902327" cy="493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5305782"/>
            <a:ext cx="12902327" cy="1111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2026-01-06T16:52:22Z</dcterms:created>
  <dcterms:modified xsi:type="dcterms:W3CDTF">2026-01-06T16:52:22Z</dcterms:modified>
</cp:coreProperties>
</file>